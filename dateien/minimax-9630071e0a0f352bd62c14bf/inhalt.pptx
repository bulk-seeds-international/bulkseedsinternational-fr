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ulkseedsinternationalfr.wordpress.com/2026/10/30/varietes-supplementaires-identifier-fiche-avant-demande/" TargetMode="External"/><Relationship Id="rId3" Type="http://schemas.openxmlformats.org/officeDocument/2006/relationships/hyperlink" Target="https://bulk-seeds-international.github.io/bulkseedsinternational-fr/dateien/minimax-9630071e0a0f352bd62c14b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Variétés supplémentaires : identifier la bonne fiche avant de demander · Presentation</a:t>
            </a:r>
          </a:p>
        </p:txBody>
      </p:sp>
      <p:sp>
        <p:nvSpPr>
          <p:cNvPr id="3" name="Content Placeholder 2"/>
          <p:cNvSpPr>
            <a:spLocks noGrp="1"/>
          </p:cNvSpPr>
          <p:nvPr>
            <p:ph idx="1"/>
          </p:nvPr>
        </p:nvSpPr>
        <p:spPr/>
        <p:txBody>
          <a:bodyPr/>
          <a:lstStyle/>
          <a:p>
            <a:r>
              <a:t>Les variétés supplémentaires proposées hors du catalogue principal ne peuvent pas être demandées sur la seule base d’un nom affiché. Chaque entrée possède une dénomination, une description, parfois une référence et une unité tarifaire qui lui sont propres. Ce document explique comment lire une fiche avant toute demande, comment relever les informations utiles et comment préparer une demande sans ambiguïté. Il s’appuie uniquement sur les indications publiées pour ces entrées supplémentaires.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Pourquoi le nom seul ne suffit pas</a:t>
            </a:r>
          </a:p>
        </p:txBody>
      </p:sp>
      <p:sp>
        <p:nvSpPr>
          <p:cNvPr id="3" name="Content Placeholder 2"/>
          <p:cNvSpPr>
            <a:spLocks noGrp="1"/>
          </p:cNvSpPr>
          <p:nvPr>
            <p:ph idx="1"/>
          </p:nvPr>
        </p:nvSpPr>
        <p:spPr/>
        <p:txBody>
          <a:bodyPr/>
          <a:lstStyle/>
          <a:p>
            <a:pPr>
              <a:defRPr sz="1800"/>
            </a:pPr>
            <a:r>
              <a:t>Deux libellés peuvent se ressembler tout en désignant des articles différents. La distinction entre « Mixed » et « mixed » en est l’illustration : ces deux entrées correspondent à des références et à des tarifs distincts. Une demande rédigée uniquement à partir d’une ressemblance visuelle risque donc de retenir le mauvais article ou le mauvais palier. La lecture complète de la fiche concernée est le point de départ d’une demande précise, car c’est elle qui associe dénomination, description, référence éventuelle et unité tarifaire.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cinq informations à relever</a:t>
            </a:r>
          </a:p>
        </p:txBody>
      </p:sp>
      <p:sp>
        <p:nvSpPr>
          <p:cNvPr id="3" name="Content Placeholder 2"/>
          <p:cNvSpPr>
            <a:spLocks noGrp="1"/>
          </p:cNvSpPr>
          <p:nvPr>
            <p:ph idx="1"/>
          </p:nvPr>
        </p:nvSpPr>
        <p:spPr/>
        <p:txBody>
          <a:bodyPr/>
          <a:lstStyle/>
          <a:p>
            <a:pPr>
              <a:defRPr sz="1800"/>
            </a:pPr>
            <a:r>
              <a:t>La première information est la dénomination : recopiez le libellé exact, en conservant majuscules, minuscules, espaces et tirets. La deuxième est la description affichée, qui contient parfois elle-même la référence et une indication de quantité. La troisième est la référence : copiez intégralement le code commençant par BSI lorsqu’il est présent, préfixe compris ; si aucune référence BSI n’est affichée, conservez la description sans en fabriquer une. La quatrième est l’unité tarifaire, en distinguant le prix par kilogramme du prix par 1 000 graines, qui ne sont pas interchangeables. La cinquième est le palier et son tarif ; pour une fiche 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cinq informations à relever</a:t>
            </a:r>
          </a:p>
        </p:txBody>
      </p:sp>
      <p:sp>
        <p:nvSpPr>
          <p:cNvPr id="3" name="Content Placeholder 2"/>
          <p:cNvSpPr>
            <a:spLocks noGrp="1"/>
          </p:cNvSpPr>
          <p:nvPr>
            <p:ph idx="1"/>
          </p:nvPr>
        </p:nvSpPr>
        <p:spPr/>
        <p:txBody>
          <a:bodyPr/>
          <a:lstStyle/>
          <a:p>
            <a:pPr>
              <a:defRPr sz="1800"/>
            </a:pPr>
            <a:r>
              <a:t>iquant « prix sur demande », reprenez exactement cette mention.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 profils de fiches différents</a:t>
            </a:r>
          </a:p>
        </p:txBody>
      </p:sp>
      <p:sp>
        <p:nvSpPr>
          <p:cNvPr id="3" name="Content Placeholder 2"/>
          <p:cNvSpPr>
            <a:spLocks noGrp="1"/>
          </p:cNvSpPr>
          <p:nvPr>
            <p:ph idx="1"/>
          </p:nvPr>
        </p:nvSpPr>
        <p:spPr/>
        <p:txBody>
          <a:bodyPr/>
          <a:lstStyle/>
          <a:p>
            <a:pPr>
              <a:defRPr sz="1800"/>
            </a:pPr>
            <a:r>
              <a:t>Les entrées supplémentaires ne suivent pas toutes le même modèle. Certaines affichent une référence et un tarif par 1 000 graines, comme Sprengeri (BSI-FL91707, 54 € par 1 000 graines). D’autres présentent une référence et plusieurs paliers au kilogramme, par exemple Mixed (BSI-FL38156) ou gibraltarica (BSI-H267000). Largeflowered mixed (BSI-FL17688) n’affiche que deux paliers au kilogramme. Enfin, quatre entrées — historically-1, historically-2, it was eaten by cows kept by the Kawaiisu.. et it-1 — sont indiquées « prix sur demande » et ne comportent aucune référence BSI affichée. Cette diversité impose de traiter chaque fiche séparément plu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 profils de fiches différents</a:t>
            </a:r>
          </a:p>
        </p:txBody>
      </p:sp>
      <p:sp>
        <p:nvSpPr>
          <p:cNvPr id="3" name="Content Placeholder 2"/>
          <p:cNvSpPr>
            <a:spLocks noGrp="1"/>
          </p:cNvSpPr>
          <p:nvPr>
            <p:ph idx="1"/>
          </p:nvPr>
        </p:nvSpPr>
        <p:spPr/>
        <p:txBody>
          <a:bodyPr/>
          <a:lstStyle/>
          <a:p>
            <a:pPr>
              <a:defRPr sz="1800"/>
            </a:pPr>
            <a:r>
              <a:t>tôt que d’appliquer un modèle unique à l’ensemble.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Traiter les entrées sans prix publié</a:t>
            </a:r>
          </a:p>
        </p:txBody>
      </p:sp>
      <p:sp>
        <p:nvSpPr>
          <p:cNvPr id="3" name="Content Placeholder 2"/>
          <p:cNvSpPr>
            <a:spLocks noGrp="1"/>
          </p:cNvSpPr>
          <p:nvPr>
            <p:ph idx="1"/>
          </p:nvPr>
        </p:nvSpPr>
        <p:spPr/>
        <p:txBody>
          <a:bodyPr/>
          <a:lstStyle/>
          <a:p>
            <a:pPr>
              <a:defRPr sz="1800"/>
            </a:pPr>
            <a:r>
              <a:t>Pour les quatre entrées sans prix publié, la seule mention correcte est « prix sur demande ». Il ne faut pas inscrire 0 € comme tarif, ni reprendre l’unité ou le prix d’une autre fiche pour compléter la ligne. De même, lorsque la fiche ne montre pas de référence, il convient de laisser cet élément à confirmer au lieu de le déduire d’une entrée voisine. Cette retenue évite d’introduire dans la demande des informations qui ne figurent pas sur la fiche d’origine.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Préparer une ligne par fiche et par palier</a:t>
            </a:r>
          </a:p>
        </p:txBody>
      </p:sp>
      <p:sp>
        <p:nvSpPr>
          <p:cNvPr id="3" name="Content Placeholder 2"/>
          <p:cNvSpPr>
            <a:spLocks noGrp="1"/>
          </p:cNvSpPr>
          <p:nvPr>
            <p:ph idx="1"/>
          </p:nvPr>
        </p:nvSpPr>
        <p:spPr/>
        <p:txBody>
          <a:bodyPr/>
          <a:lstStyle/>
          <a:p>
            <a:pPr>
              <a:defRPr sz="1800"/>
            </a:pPr>
            <a:r>
              <a:t>Pour chaque variété sélectionnée, préparez une ligne rassemblant la dénomination exacte, la description affichée, la référence complète lorsqu’elle existe, la quantité souhaitée, l’unité correspondante, puis le palier choisi et son tarif, ou la mention « prix sur demande ». Une ligne vérifiable peut prendre la forme suivante : Mixed | BSI-FL38156 | [quantité] kg | 5–9 kg | 170 €/kg. La quantité à compléter et le prix à conserver proviennent du même palier, ce qui permet de retrouver la fiche sans dépendre d’une ressemblance entre deux noms.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Contrôle final avant l’envoi</a:t>
            </a:r>
          </a:p>
        </p:txBody>
      </p:sp>
      <p:sp>
        <p:nvSpPr>
          <p:cNvPr id="3" name="Content Placeholder 2"/>
          <p:cNvSpPr>
            <a:spLocks noGrp="1"/>
          </p:cNvSpPr>
          <p:nvPr>
            <p:ph idx="1"/>
          </p:nvPr>
        </p:nvSpPr>
        <p:spPr/>
        <p:txBody>
          <a:bodyPr/>
          <a:lstStyle/>
          <a:p>
            <a:pPr>
              <a:defRPr sz="1800"/>
            </a:pPr>
            <a:r>
              <a:t>Vérifiez que chaque ligne correspond à une seule dénomination et à une seule référence, et conservez la casse exacte des libellés, en particulier pour Mixed et mixed. Exprimez la quantité dans l’unité du tarif : kilogramme pour les paliers au poids, 1 000 graines pour Sprengeri. Contrôlez que le prix repris correspond bien au palier demandé, et laissez les éléments non affichés à confirmer plutôt que de les déduire. La demande peut ensuite être transmise au moyen de la demande rapide ou du panier de demande ; son envoi ne constitue pas une commande, la demande étant sans engagement et les conditions d’approvisionnement convenues séparément.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Links</a:t>
            </a:r>
          </a:p>
        </p:txBody>
      </p:sp>
      <p:sp>
        <p:nvSpPr>
          <p:cNvPr id="3" name="Content Placeholder 2"/>
          <p:cNvSpPr>
            <a:spLocks noGrp="1"/>
          </p:cNvSpPr>
          <p:nvPr>
            <p:ph idx="1"/>
          </p:nvPr>
        </p:nvSpPr>
        <p:spPr/>
        <p:txBody>
          <a:bodyPr/>
          <a:lstStyle/>
          <a:p>
            <a:r>
              <a:rPr sz="1800">
                <a:hlinkClick r:id="rId2"/>
              </a:rPr>
              <a:t>Variétés supplémentaires : identifier la bonne fiche avant de demander</a:t>
            </a:r>
          </a:p>
          <a:p>
            <a:r>
              <a:rPr sz="1800">
                <a:hlinkClick r:id="rId3"/>
              </a:rPr>
              <a:t>Related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